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457200" cy="6858000"/>
          </a:xfrm>
          <a:prstGeom prst="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914400"/>
            <a:ext cx="5029200" cy="5029200"/>
          </a:xfrm>
          <a:prstGeom prst="ellipse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1645920"/>
            <a:ext cx="3200400" cy="3200400"/>
          </a:xfrm>
          <a:prstGeom prst="ellipse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C8E0"/>
                </a:solidFill>
              </a:rPr>
              <a:t>RAGenie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Your Local AI Assistant — Powered by RAG &amp; LLMs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100% Private  ·  On-Device  ·  Zero Cloud Dependency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663440"/>
            <a:ext cx="1508760" cy="457200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4736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🧠 Multi-LLM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4663440"/>
            <a:ext cx="1508760" cy="4572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4736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📄 RAG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4663440"/>
            <a:ext cx="1508760" cy="4572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4736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🔍 Web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4663440"/>
            <a:ext cx="150876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4736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📊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54112" y="4663440"/>
            <a:ext cx="1508760" cy="457200"/>
          </a:xfrm>
          <a:prstGeom prst="round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4" y="4736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🔌 MCP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663440"/>
            <a:ext cx="1508760" cy="457200"/>
          </a:xfrm>
          <a:prstGeom prst="roundRect">
            <a:avLst/>
          </a:prstGeom>
          <a:solidFill>
            <a:srgbClr val="FF5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91472" y="4736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🔒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82"/>
                </a:solidFill>
              </a:rPr>
              <a:t>Open Source ·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RAGenie?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A self-hosted AI assistant that brings enterprise-grade capabilities to your local machine.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RAGenie combines Retrieval-Augmented Generation (RAG), local LLMs via Ollama, real-time internet search, data analytics, persistent memory, and task execution — all without sending a single byte to the cloud. Deploy it on your laptop or server and own your data completely.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017520"/>
            <a:ext cx="1783080" cy="338328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017520"/>
            <a:ext cx="1783080" cy="6400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4903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Privacy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5196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Everything runs locally.
No API keys, no telemetry.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3017520"/>
            <a:ext cx="1783080" cy="338328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3017520"/>
            <a:ext cx="1783080" cy="64008"/>
          </a:xfrm>
          <a:prstGeom prst="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31546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74903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Real-time 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25196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Token-by-token WebSocket
streaming for instant responses.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017520"/>
            <a:ext cx="1783080" cy="338328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017520"/>
            <a:ext cx="1783080" cy="6400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31546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374903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Document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425196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Upload PDFs, DOCX, Excel,
images, audio — ask anything.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017520"/>
            <a:ext cx="1783080" cy="338328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3017520"/>
            <a:ext cx="17830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1546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374903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Live Web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425196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DuckDuckGo integration with
1-hour result cache.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3017520"/>
            <a:ext cx="1783080" cy="338328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B3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17520"/>
            <a:ext cx="1783080" cy="64008"/>
          </a:xfrm>
          <a:prstGeom prst="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31546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74903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MCP Ecosystem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25196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Connects to 100s of MCP
servers for tool 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61320" y="3017520"/>
            <a:ext cx="1783080" cy="338328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5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561320" y="3017520"/>
            <a:ext cx="1783080" cy="64008"/>
          </a:xfrm>
          <a:prstGeom prst="rect">
            <a:avLst/>
          </a:prstGeom>
          <a:solidFill>
            <a:srgbClr val="FF5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0" y="31546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374903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Built-in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425196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Statistical analysis, ML
models, Plotly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End-to-end flow from user request to streamed AI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E0"/>
                </a:solidFill>
              </a:rPr>
              <a:t>FRONTEND  (React + TypeScript + Tailwind)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240280"/>
            <a:ext cx="2377440" cy="685800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Chat UI
+ File 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240280"/>
            <a:ext cx="2377440" cy="685800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Analytics
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240280"/>
            <a:ext cx="2377440" cy="685800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Document
Sidebar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240280"/>
            <a:ext cx="2377440" cy="685800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MCP Servers
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98480" y="2240280"/>
            <a:ext cx="2377440" cy="685800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News
Feed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0" y="2926080"/>
            <a:ext cx="0" cy="411480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69080" y="2926080"/>
            <a:ext cx="0" cy="411480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2926080"/>
            <a:ext cx="0" cy="411480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81160" y="2926080"/>
            <a:ext cx="0" cy="411480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4320" y="33375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BACKEND  (FastAPI + WebSocket)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657600"/>
            <a:ext cx="2377440" cy="68580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Chat
Orchestrator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360" y="3657600"/>
            <a:ext cx="2377440" cy="68580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Analytics
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657600"/>
            <a:ext cx="2377440" cy="68580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Document
Manager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657600"/>
            <a:ext cx="2377440" cy="68580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MCP Client
Manager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98480" y="3657600"/>
            <a:ext cx="2377440" cy="68580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News
Aggregator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63040" y="4343400"/>
            <a:ext cx="0" cy="411480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75120" y="4343400"/>
            <a:ext cx="0" cy="411480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81160" y="4343400"/>
            <a:ext cx="0" cy="411480"/>
          </a:xfrm>
          <a:prstGeom prst="line">
            <a:avLst/>
          </a:prstGeom>
          <a:ln w="15240">
            <a:solidFill>
              <a:srgbClr val="B38A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4320" y="4754880"/>
            <a:ext cx="3657600" cy="64008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RAG System (BM25)  +  Multi-Model LLM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4754880"/>
            <a:ext cx="3657600" cy="64008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Memory  ·  Search  ·  Tasks  ·  Learning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4754880"/>
            <a:ext cx="3931920" cy="640080"/>
          </a:xfrm>
          <a:prstGeom prst="roundRect">
            <a:avLst/>
          </a:prstGeom>
          <a:solidFill>
            <a:srgbClr val="281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External MCP Servers  (100s of tools)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03120" y="5394960"/>
            <a:ext cx="0" cy="41148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74320" y="5806440"/>
            <a:ext cx="7772400" cy="6858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Ollama  (Local LLMs)  ·  Reasoning Model  ·  Main Model  ·  Fallback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943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100% On-Device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RAG Document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How documents are ingested, indexed, retrieved, and used in chat.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INGESTION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240280"/>
            <a:ext cx="3566160" cy="749808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①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87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PDF · DOCX · TXT · MD
Excel · CSV · Image · Audio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57400" y="2990088"/>
            <a:ext cx="0" cy="13716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" y="3127248"/>
            <a:ext cx="3566160" cy="749808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1729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A5"/>
                </a:solidFill>
              </a:rPr>
              <a:t>② Extract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pdfplumber · python-docx
Pillow OCR · SpeechRec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3877056"/>
            <a:ext cx="0" cy="137159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" y="4014215"/>
            <a:ext cx="3566160" cy="749808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059935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FFF"/>
                </a:solidFill>
              </a:rPr>
              <a:t>③ Chunk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3616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1000 char chunks
200 char overlap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57400" y="4764024"/>
            <a:ext cx="0" cy="137159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4901183"/>
            <a:ext cx="3566160" cy="749808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946903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E0"/>
                </a:solidFill>
              </a:rPr>
              <a:t>④ SHA-256 Hash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248655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Content-based dedup
Unique chunk IDs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57400" y="5650992"/>
            <a:ext cx="0" cy="137159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4320" y="5788151"/>
            <a:ext cx="3566160" cy="749808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833871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⑤ BM25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135623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Fast keyword indexing
persisted to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1828800"/>
            <a:ext cx="45720" cy="5029200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E0"/>
                </a:solidFill>
              </a:rPr>
              <a:t>RETRIEVAL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2240280"/>
            <a:ext cx="3566160" cy="749808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E0"/>
                </a:solidFill>
              </a:rPr>
              <a:t>① User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587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Message arrives via
WebSocket or REST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0" y="2990088"/>
            <a:ext cx="0" cy="137160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160520" y="3127248"/>
            <a:ext cx="3566160" cy="749808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31729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FFF"/>
                </a:solidFill>
              </a:rPr>
              <a:t>② BM25 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Top-K chunks retrieved
Medical term expansion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43600" y="3877056"/>
            <a:ext cx="0" cy="137159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160520" y="4014215"/>
            <a:ext cx="3566160" cy="749808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B3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4059935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38AFF"/>
                </a:solidFill>
              </a:rPr>
              <a:t>③ Context Build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3616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Chunks assembled into
structured context block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43600" y="4764024"/>
            <a:ext cx="0" cy="137159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160520" y="4901183"/>
            <a:ext cx="3566160" cy="749808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4946903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④ Prompt Build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5248655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System prompt + RAG
context + user query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0" y="5650992"/>
            <a:ext cx="0" cy="137159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160520" y="5788151"/>
            <a:ext cx="3566160" cy="749808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80" y="5833871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⑤ LLM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6135623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Streamed token-by-token
back to frontend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09560" y="1828800"/>
            <a:ext cx="4114800" cy="5029200"/>
          </a:xfrm>
          <a:prstGeom prst="roundRect">
            <a:avLst/>
          </a:prstGeom>
          <a:solidFill>
            <a:srgbClr val="162A3E"/>
          </a:solidFill>
          <a:ln w="12700">
            <a:solidFill>
              <a:srgbClr val="556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19202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Design Decisions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2377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8E0"/>
                </a:solidFill>
              </a:rPr>
              <a:t>▸ BM25 vs Vectors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2651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Fast, dependency-light keyword
search — no GPU embedding needed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3154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8E0"/>
                </a:solidFill>
              </a:rPr>
              <a:t>▸ SHA-256 Dedup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3429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Prevents re-ingesting the same
content across uploads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3931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8E0"/>
                </a:solidFill>
              </a:rPr>
              <a:t>▸ Overlapping Chunks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2062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200-char overlap preserves
context at chunk boundaries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470915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8E0"/>
                </a:solidFill>
              </a:rPr>
              <a:t>▸ 30 MB limit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498347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Upload cap enforced server-side
with rate limiting per IP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0" y="548639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8E0"/>
                </a:solidFill>
              </a:rPr>
              <a:t>▸ BM25 persistence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0" y="576071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Index saved to JSON — survives
server restarts with no rebuild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Multi-Model LLM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Three specialized models working in concert for quality, speed, and reliability.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874519"/>
            <a:ext cx="3794760" cy="4754880"/>
          </a:xfrm>
          <a:prstGeom prst="roundRect">
            <a:avLst/>
          </a:prstGeom>
          <a:solidFill>
            <a:srgbClr val="1C344F"/>
          </a:solidFill>
          <a:ln w="19050">
            <a:solidFill>
              <a:srgbClr val="B3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74519"/>
            <a:ext cx="3794760" cy="73152"/>
          </a:xfrm>
          <a:prstGeom prst="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99339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Reasoning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38AFF"/>
                </a:solidFill>
              </a:rPr>
              <a:t>deepseek-r1:1.5b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375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Chain-of-thought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130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Activates on complex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9709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Low temperature (0.3)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8114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1.1 GB — lightweight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6519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Auto-detected via keyword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1874519"/>
            <a:ext cx="3794760" cy="4754880"/>
          </a:xfrm>
          <a:prstGeom prst="roundRect">
            <a:avLst/>
          </a:prstGeom>
          <a:solidFill>
            <a:srgbClr val="1C344F"/>
          </a:solidFill>
          <a:ln w="1905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1688" y="1874519"/>
            <a:ext cx="3794760" cy="7315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4727" y="199339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51460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Main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29260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8E0"/>
                </a:solidFill>
              </a:rPr>
              <a:t>gemma4 / qwen2.5 / llama3.2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375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42900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Primary response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8130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Receives reasoning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19709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Standard temperature (0.7)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58114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Fully configurable via YAML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96519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Supports Ollama + HuggingFace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03336" y="1874519"/>
            <a:ext cx="3794760" cy="4754880"/>
          </a:xfrm>
          <a:prstGeom prst="roundRect">
            <a:avLst/>
          </a:prstGeom>
          <a:solidFill>
            <a:srgbClr val="1C344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03336" y="1874519"/>
            <a:ext cx="3794760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66376" y="199339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251460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Fallback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0496" y="29260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</a:rPr>
              <a:t>qwen2.5:7b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3375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86215" y="342900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Auto-activates on main failure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6215" y="38130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Zero user intervention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6215" y="419709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Ensures 100% uptime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5" y="458114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Independent config per role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86215" y="496519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✓  Timeout + error handling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6B82"/>
                </a:solidFill>
              </a:rPr>
              <a:t>REQUEST ROUTING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6720840"/>
            <a:ext cx="2011680" cy="457200"/>
          </a:xfrm>
          <a:prstGeom prst="round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User Query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331720" y="6949440"/>
            <a:ext cx="411480" cy="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743200" y="6720840"/>
            <a:ext cx="2286000" cy="457200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Auto-Detect
Reasoning?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678484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YES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0" y="6949440"/>
            <a:ext cx="457200" cy="0"/>
          </a:xfrm>
          <a:prstGeom prst="line">
            <a:avLst/>
          </a:prstGeom>
          <a:ln w="19050">
            <a:solidFill>
              <a:srgbClr val="B38A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486400" y="6720840"/>
            <a:ext cx="1920240" cy="457200"/>
          </a:xfrm>
          <a:prstGeom prst="round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Reasoning Model
→ Analysis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406640" y="6949440"/>
            <a:ext cx="457200" cy="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047488" y="7086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82"/>
                </a:solidFill>
              </a:rPr>
              <a:t>NO → directly to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6720840"/>
            <a:ext cx="1920240" cy="457200"/>
          </a:xfrm>
          <a:prstGeom prst="round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Main Model
→ Response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784080" y="6949440"/>
            <a:ext cx="457200" cy="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0241280" y="6720840"/>
            <a:ext cx="1737360" cy="4572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Streamed
to 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Everything RAGenie can do — at a glance.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" y="1920240"/>
            <a:ext cx="2788920" cy="251460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920240"/>
            <a:ext cx="2788920" cy="548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2029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8E0"/>
                </a:solidFill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Chat &amp;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WebSocket token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37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Persistent conversation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72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Long-term memory (SQLite)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0215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Learning feedback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3133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Conversation pruning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920240"/>
            <a:ext cx="2788920" cy="251460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920240"/>
            <a:ext cx="278892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2029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ADE80"/>
                </a:solidFill>
              </a:rPr>
              <a:t>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0299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Document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79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PDF · DOCX · TXT · 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28437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Excel · CSV · Images · Audio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3172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In-chat file upload (30 MB)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350215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BM25 keyword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383133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Auto-deduplication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920240"/>
            <a:ext cx="2788920" cy="251460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920240"/>
            <a:ext cx="27889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2029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6B35"/>
                </a:solidFill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20299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Web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DuckDuckGo (no API key)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437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1-hour result caching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172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Real-time info injection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50215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Search result summarisation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3133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Integrated into RAG context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1920240"/>
            <a:ext cx="2788920" cy="251460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B3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81160" y="1920240"/>
            <a:ext cx="2788920" cy="54864"/>
          </a:xfrm>
          <a:prstGeom prst="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90888" y="2029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38AFF"/>
                </a:solidFill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0299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CSV/Excel/JSON/TSV upload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8437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Statistical analysis (skew/kurtosis)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3172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Outlier detection (IQR/Z-score)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50215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Linear &amp; RF regression/classif.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383133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Auto Plotly visualisations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600" y="4617720"/>
            <a:ext cx="2788920" cy="251460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5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8600" y="4617720"/>
            <a:ext cx="2788920" cy="54864"/>
          </a:xfrm>
          <a:prstGeom prst="rect">
            <a:avLst/>
          </a:prstGeom>
          <a:solidFill>
            <a:srgbClr val="FF5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" y="4727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5C8D"/>
                </a:solidFill>
              </a:rPr>
              <a:t>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7274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MCP Integration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212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MCP server (SSE / stdio)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5412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MCP client manager UI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870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Claude Desktop compatible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199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stdio · SSE · HTTP transports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288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Live tool rebuild on connect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46120" y="4617720"/>
            <a:ext cx="2788920" cy="251460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46120" y="4617720"/>
            <a:ext cx="278892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55848" y="4727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D600"/>
                </a:solidFill>
              </a:rPr>
              <a:t>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49039" y="47274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Security &amp; Auth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79" y="5212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JWT auth (access + refresh)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79" y="55412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Rate limiting per IP/WS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79" y="5870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Log redaction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6199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Security headers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3279" y="65288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Audit log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3640" y="4617720"/>
            <a:ext cx="2788920" cy="251460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63640" y="4617720"/>
            <a:ext cx="278892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3368" y="4727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BFA5"/>
                </a:solidFill>
              </a:rPr>
              <a:t>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59" y="47274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News Aggregator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212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DuckDuckGo News (no key)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55412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Multi-language / region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5870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Auto LLM summarisation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6199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Ingest into RAG index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65288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3-day retention + cleanup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81160" y="4617720"/>
            <a:ext cx="2788920" cy="251460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281160" y="4617720"/>
            <a:ext cx="2788920" cy="54864"/>
          </a:xfrm>
          <a:prstGeom prst="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90888" y="4727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98FFF"/>
                </a:solidFill>
              </a:rPr>
              <a:t>⚙️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84080" y="47274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18320" y="5212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Single YAML config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18320" y="55412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Env var overrides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18320" y="5870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Hot-reload friendly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18320" y="6199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Docker-ready structure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18320" y="65288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MIT open-source license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Data Analytics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Upload any data file — get instant statistical insights, ML models, and interactive charts.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874519"/>
            <a:ext cx="1828800" cy="9601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Upload
CSV · Excel
JSON · TSV · PDF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359152"/>
            <a:ext cx="320040" cy="0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23160" y="1874519"/>
            <a:ext cx="1828800" cy="960120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Parse
pandas DataFrame
all sheets + metadata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51960" y="2359152"/>
            <a:ext cx="320040" cy="0"/>
          </a:xfrm>
          <a:prstGeom prst="line">
            <a:avLst/>
          </a:prstGeom>
          <a:ln w="19050">
            <a:solidFill>
              <a:srgbClr val="298F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1874519"/>
            <a:ext cx="1828800" cy="960120"/>
          </a:xfrm>
          <a:prstGeom prst="round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Analyze
Basic + Advanced
Stats · Outliers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0" y="2359152"/>
            <a:ext cx="320040" cy="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20840" y="1874519"/>
            <a:ext cx="1828800" cy="960120"/>
          </a:xfrm>
          <a:prstGeom prst="round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ML Models
Regression
Classification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49640" y="2359152"/>
            <a:ext cx="320040" cy="0"/>
          </a:xfrm>
          <a:prstGeom prst="line">
            <a:avLst/>
          </a:prstGeom>
          <a:ln w="19050">
            <a:solidFill>
              <a:srgbClr val="B38A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69680" y="1874519"/>
            <a:ext cx="1828800" cy="9601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Visualize
Interactive
Plotly Charts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698480" y="2359152"/>
            <a:ext cx="320039" cy="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018519" y="1874519"/>
            <a:ext cx="1828800" cy="96012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Predict
Trend Analysis
Future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017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Statistical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474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Mean · Median · Std · Min · Max · Quartiles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8130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Skewness · Kurtosis · IQR ·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513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Correlation Matrix (Pearson)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48970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Outlier Detection: IQR Method + Z-Score 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8280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Missing value detection &amp;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017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8AFF"/>
                </a:solidFill>
              </a:rPr>
              <a:t>Machine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474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Linear Regression — continuous target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8130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Random Forest Regression — non-linear relationships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15137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Logistic Regression — binary classification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48970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Random Forest Classifier — multi-class 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828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Time Series — trend analysis &amp; future forecasting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6928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760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C5"/>
                </a:solidFill>
              </a:rPr>
              <a:t>Chart Types: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5742432"/>
            <a:ext cx="1097280" cy="36576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20" y="57790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Histogram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5742432"/>
            <a:ext cx="1097280" cy="36576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57790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Scatter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5742432"/>
            <a:ext cx="1097280" cy="36576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57790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5742432"/>
            <a:ext cx="1097280" cy="36576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57790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Bar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23760" y="5742432"/>
            <a:ext cx="1097280" cy="36576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9480" y="57790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Box Plot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58200" y="5742432"/>
            <a:ext cx="1097280" cy="36576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57790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Heatmap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5742432"/>
            <a:ext cx="1097280" cy="36576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8360" y="57790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Pie Chart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927080" y="5742432"/>
            <a:ext cx="1097280" cy="36576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0" y="57790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Auto-Viz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MCP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Model Context Protocol — exposing &amp; consuming tools across the AI ecosystem.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920240"/>
            <a:ext cx="5394960" cy="4663440"/>
          </a:xfrm>
          <a:prstGeom prst="roundRect">
            <a:avLst/>
          </a:prstGeom>
          <a:solidFill>
            <a:srgbClr val="162A3E"/>
          </a:solidFill>
          <a:ln w="12700">
            <a:solidFill>
              <a:srgbClr val="B3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5394960" cy="73152"/>
          </a:xfrm>
          <a:prstGeom prst="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8AFF"/>
                </a:solidFill>
              </a:rPr>
              <a:t>🖥️  RAGenie as MCP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BEC5"/>
                </a:solidFill>
              </a:rPr>
              <a:t>Transport: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SSE (port 8001)  or  stdio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906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BEC5"/>
                </a:solidFill>
              </a:rPr>
              <a:t>Protocol: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090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mcp==1.17.0  (2025-06-18)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753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BEC5"/>
                </a:solidFill>
              </a:rPr>
              <a:t>Client: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5753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Claude Desktop, any MCP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599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BEC5"/>
                </a:solidFill>
              </a:rPr>
              <a:t>Core tools: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0599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search_documents · search_web
ask_ragenie · list_documents · execute_task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445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BEC5"/>
                </a:solidFill>
              </a:rPr>
              <a:t>News tools: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5445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list/create/update/delete_news_keyword
fetch_news_now · get_news_articles · suggest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BEC5"/>
                </a:solidFill>
              </a:rPr>
              <a:t>Mode: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hybrid · mcp_server (headless)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1920240"/>
            <a:ext cx="5943600" cy="4663440"/>
          </a:xfrm>
          <a:prstGeom prst="roundRect">
            <a:avLst/>
          </a:prstGeom>
          <a:solidFill>
            <a:srgbClr val="162A3E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1920240"/>
            <a:ext cx="5943600" cy="7315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0116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E0"/>
                </a:solidFill>
              </a:rPr>
              <a:t>🔌  RAGenie as MCP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BEC5"/>
                </a:solidFill>
              </a:rPr>
              <a:t>Storage: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60604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SQLite DB for server configs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0906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BEC5"/>
                </a:solidFill>
              </a:rPr>
              <a:t>Transports: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09067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stdio · SSE · Streamable HTTP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5753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BEC5"/>
                </a:solidFill>
              </a:rPr>
              <a:t>Tool naming: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575304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server_name/tool_name (LLM-visible)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0599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BEC5"/>
                </a:solidFill>
              </a:rPr>
              <a:t>UI: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05993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Manage via /mcp-servers Web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5445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BEC5"/>
                </a:solidFill>
              </a:rPr>
              <a:t>Live rebuild: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54456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Tools rebuild on connect/disconnect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029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BEC5"/>
                </a:solidFill>
              </a:rPr>
              <a:t>Deferred: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0292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Localhost servers auto-connect +10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4864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BEC5"/>
                </a:solidFill>
              </a:rPr>
              <a:t>Compatible with the entire MCP ecosystem: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5897880"/>
            <a:ext cx="1371600" cy="347472"/>
          </a:xfrm>
          <a:prstGeom prst="roundRect">
            <a:avLst/>
          </a:prstGeom>
          <a:solidFill>
            <a:srgbClr val="1A2A4A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5943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</a:rPr>
              <a:t>Filesystem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35240" y="5897880"/>
            <a:ext cx="1371600" cy="347472"/>
          </a:xfrm>
          <a:prstGeom prst="roundRect">
            <a:avLst/>
          </a:prstGeom>
          <a:solidFill>
            <a:srgbClr val="1A2A4A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5943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</a:rPr>
              <a:t>GitHub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5897880"/>
            <a:ext cx="1371600" cy="347472"/>
          </a:xfrm>
          <a:prstGeom prst="roundRect">
            <a:avLst/>
          </a:prstGeom>
          <a:solidFill>
            <a:srgbClr val="1A2A4A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5943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</a:rPr>
              <a:t>Slack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52760" y="5897880"/>
            <a:ext cx="1371600" cy="347472"/>
          </a:xfrm>
          <a:prstGeom prst="roundRect">
            <a:avLst/>
          </a:prstGeom>
          <a:solidFill>
            <a:srgbClr val="1A2A4A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98480" y="5943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</a:rPr>
              <a:t>Databases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6309360"/>
            <a:ext cx="1371600" cy="347472"/>
          </a:xfrm>
          <a:prstGeom prst="roundRect">
            <a:avLst/>
          </a:prstGeom>
          <a:solidFill>
            <a:srgbClr val="1A2A4A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63550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</a:rPr>
              <a:t>Calendar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35240" y="6309360"/>
            <a:ext cx="1371600" cy="347472"/>
          </a:xfrm>
          <a:prstGeom prst="roundRect">
            <a:avLst/>
          </a:prstGeom>
          <a:solidFill>
            <a:srgbClr val="1A2A4A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0" y="63550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</a:rPr>
              <a:t>Reminders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6309360"/>
            <a:ext cx="1371600" cy="347472"/>
          </a:xfrm>
          <a:prstGeom prst="roundRect">
            <a:avLst/>
          </a:prstGeom>
          <a:solidFill>
            <a:srgbClr val="1A2A4A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20" y="63550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E0"/>
                </a:solidFill>
              </a:rPr>
              <a:t>Custom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5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Security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Production-grade security features built in from the ground 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920240"/>
            <a:ext cx="3794760" cy="233172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5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3794760" cy="54864"/>
          </a:xfrm>
          <a:prstGeom prst="rect">
            <a:avLst/>
          </a:prstGeom>
          <a:solidFill>
            <a:srgbClr val="FF5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0116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C8D"/>
                </a:solidFill>
              </a:rPr>
              <a:t>🔑 JWT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4871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Access token (30 min expiry)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81635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Refresh token (7 days)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145536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SQLite user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4747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Enable/disable via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80390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RAGENIE_SECRET_KEY env var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20240"/>
            <a:ext cx="3794760" cy="233172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920240"/>
            <a:ext cx="37947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0116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⏱️ Rate Limiting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871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60 req/min (general endpoints)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81635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10 uploads/hour per 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145536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30 WS messages/min per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4747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Configurable per endpoint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80390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Protects from abuse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1920240"/>
            <a:ext cx="3794760" cy="233172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1920240"/>
            <a:ext cx="379476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20116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🛡️ Security Headers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4871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X-Content-Type-Options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81635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X-Frame-Options: DENY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145536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Content-Security-Policy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4747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HSTS (Strict-Transport)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80390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Referrer-Policy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434840"/>
            <a:ext cx="3794760" cy="233172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434840"/>
            <a:ext cx="3794760" cy="548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526279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E0"/>
                </a:solidFill>
              </a:rPr>
              <a:t>📝 Audit &amp; Logging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50017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Audit log at logs/audit.log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33095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Sensitive data redaction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79" y="5660136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Structured JSON log format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5989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Configurable log level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" y="631850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Rotation-ready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4434840"/>
            <a:ext cx="3794760" cy="233172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B3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4434840"/>
            <a:ext cx="3794760" cy="54864"/>
          </a:xfrm>
          <a:prstGeom prst="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4526279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38AFF"/>
                </a:solidFill>
              </a:rPr>
              <a:t>🔒 Request Controls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50017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30 MB max upload size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533095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10 000 char WS message limit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5660136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CORS origin whitelist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5989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File type 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631850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Content-length enforcement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0" y="4434840"/>
            <a:ext cx="3794760" cy="233172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12480" y="4434840"/>
            <a:ext cx="379476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9640" y="4526279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🏠 Privacy by Design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50017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Zero cloud calls by default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533095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No telemetry or tracking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5660136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All data stays on-device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5989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SQLite — no external DB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9640" y="631850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Fully auditable open source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Persistent Memory &amp;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RAGenie remembers — and gets smarter with every interaction.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920240"/>
            <a:ext cx="5486400" cy="4663440"/>
          </a:xfrm>
          <a:prstGeom prst="roundRect">
            <a:avLst/>
          </a:prstGeom>
          <a:solidFill>
            <a:srgbClr val="162A3E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548640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🧠  Persistent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SQLite-backed long-term memory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083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Automatically stores important context from conversations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10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Injects up to 8 memory items into every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13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2000-character context window per item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153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Survives server restarts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17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Proactive nudges based on stored user preferences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00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Daily briefing at configured hour (default 9 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223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Quiet hours enforcement (10 PM – 8 AM default)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920240"/>
            <a:ext cx="5486400" cy="4663440"/>
          </a:xfrm>
          <a:prstGeom prst="roundRect">
            <a:avLst/>
          </a:prstGeom>
          <a:solidFill>
            <a:srgbClr val="162A3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920240"/>
            <a:ext cx="5486400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011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DE80"/>
                </a:solidFill>
              </a:rPr>
              <a:t>📈  Learning Feedback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060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Users give 👍/👎 on any AI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083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Positive feedback: score += 0.10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410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Negative feedback: score -= 0.08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813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Adaptation rate configurable in 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153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Score influences future retrieval weight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617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Per-session and aggregate feedback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0200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REST API: POST /feedback/{message_id}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4223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✓  Gradual system self-improvement over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News Aggregator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Stay informed — RAGenie fetches, summarises, and optionally indexes live news.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920240"/>
            <a:ext cx="1828800" cy="100584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Fetch
─────
DuckDuckGo News
No API key required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423160"/>
            <a:ext cx="320040" cy="0"/>
          </a:xfrm>
          <a:prstGeom prst="line">
            <a:avLst/>
          </a:prstGeom>
          <a:ln w="19050">
            <a:solidFill>
              <a:srgbClr val="00BFA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23160" y="1920240"/>
            <a:ext cx="1828800" cy="1005840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Filter
─────
Region + language
keyword targeting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51960" y="2423160"/>
            <a:ext cx="320040" cy="0"/>
          </a:xfrm>
          <a:prstGeom prst="line">
            <a:avLst/>
          </a:prstGeom>
          <a:ln w="19050">
            <a:solidFill>
              <a:srgbClr val="298F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1920240"/>
            <a:ext cx="1828800" cy="1005840"/>
          </a:xfrm>
          <a:prstGeom prst="round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Scrape
─────
Full article text
(up to 8000 chars)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0" y="2423160"/>
            <a:ext cx="320040" cy="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20840" y="1920240"/>
            <a:ext cx="1828800" cy="10058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Summarise
─────
LLM auto-summary
(5-sentence default)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49640" y="2423160"/>
            <a:ext cx="320040" cy="0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69680" y="1920240"/>
            <a:ext cx="1828800" cy="10058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Store
─────
SQLite with 3-day
retention policy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698480" y="2423160"/>
            <a:ext cx="320039" cy="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018519" y="1920240"/>
            <a:ext cx="1828800" cy="1005840"/>
          </a:xfrm>
          <a:prstGeom prst="round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RAG Inject
─────
Optional: ingest
into BM25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1546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FA5"/>
                </a:solidFill>
              </a:rPr>
              <a:t>Configuration Options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611880"/>
            <a:ext cx="11612880" cy="36576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FA5"/>
                </a:solidFill>
              </a:rPr>
              <a:t>keyword 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6576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Plain-text term (e.g. 'IPL') — fuzzy match + LLM fallback to 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023360"/>
            <a:ext cx="11612880" cy="36576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690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FA5"/>
                </a:solidFill>
              </a:rPr>
              <a:t>fetch interval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06908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Every 60 minutes (configurable per keyword)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434840"/>
            <a:ext cx="11612880" cy="36576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FA5"/>
                </a:solidFill>
              </a:rPr>
              <a:t>articles per fetch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48056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10 per topic (configurable 1–100)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846320"/>
            <a:ext cx="11612880" cy="36576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920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FA5"/>
                </a:solidFill>
              </a:rPr>
              <a:t>summarise on fetch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89204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true — LLM summaries generated automatically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257800"/>
            <a:ext cx="11612880" cy="36576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FA5"/>
                </a:solidFill>
              </a:rPr>
              <a:t>ingest into 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30352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false by default — enable to make articles searchable in chat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669280"/>
            <a:ext cx="11612880" cy="36576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7150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FA5"/>
                </a:solidFill>
              </a:rPr>
              <a:t>retention_days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57150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3 days — older articles auto-deleted on startup + every 6 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6080760"/>
            <a:ext cx="11612880" cy="36576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1264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FA5"/>
                </a:solidFill>
              </a:rPr>
              <a:t>region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612648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wt-wt (worldwide) — supports 20+ language regions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The open-source components that power RAGenie.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920240"/>
            <a:ext cx="2834640" cy="466344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283464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5146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7706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Async REST + WebSocket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1089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64991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LLM orchestration &amp; tooling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Ollama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9593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Local LLM runtime (Metal/CUDA/CPU)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2976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HuggingFace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5537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Alternative model provider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8920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BM25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Keyword-based document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54864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57424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Auth · Memory · News · Conversations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39" y="1920240"/>
            <a:ext cx="2834640" cy="466344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39" y="1920240"/>
            <a:ext cx="2834640" cy="7315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8999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E0"/>
                </a:solidFill>
              </a:rP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8999" y="25146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React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8999" y="27706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UI framework with hooks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8999" y="31089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8999" y="3364991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Type-safe 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8999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Vite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8999" y="39593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Dev server + production bundler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8999" y="42976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Tailwind CSS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8999" y="45537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Utility-first styling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8999" y="48920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Plotly.js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8999" y="51480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Interactive data visualisations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8999" y="54864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Lucide Icons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8999" y="57424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Consistent icon 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59" y="1920240"/>
            <a:ext cx="2834640" cy="466344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59" y="1920240"/>
            <a:ext cx="2834640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</a:rPr>
              <a:t>Data &amp; 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25146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pandas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27706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Data loading &amp; manipulation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1089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364991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ML models (regression/classification)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pdfplumber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39593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PDF text extraction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2976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python-docx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5537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DOCX/DOC processing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8920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Pillow + pytesseract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1480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Image metadata + OCR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4864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mutagen + SpeechRec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7424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Audio metadata + transcription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26880" y="1920240"/>
            <a:ext cx="2834640" cy="466344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B3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26880" y="1920240"/>
            <a:ext cx="2834640" cy="73152"/>
          </a:xfrm>
          <a:prstGeom prst="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64040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8AFF"/>
                </a:solidFill>
              </a:rPr>
              <a:t>Integration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64040" y="25146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MCP SDK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64040" y="27706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mcp==1.17.0 (2025-06-18 protocol)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4040" y="31089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DuckDuckGo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3364991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Web search + news (no API key)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6404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python-jose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64040" y="39593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JWT token generation/validation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64040" y="42976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passlib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64040" y="45537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Bcrypt password hashing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64040" y="48920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slowapi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64040" y="51480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Rate limiting middleware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64040" y="54864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aiofiles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64040" y="57424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Async file I/O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API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REST endpoints + WebSocket — integrable into any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E0"/>
                </a:solidFill>
              </a:rPr>
              <a:t>Chat &amp;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24028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" y="2331720"/>
            <a:ext cx="594360" cy="32918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5000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5146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Health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83464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" y="2926080"/>
            <a:ext cx="594360" cy="329184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294436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880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108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Send message, get AI response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42900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328" y="3520440"/>
            <a:ext cx="594360" cy="329184"/>
          </a:xfrm>
          <a:prstGeom prst="round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35387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/ws/{client_id}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703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Streaming chat (token-by-token)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02336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8328" y="4114800"/>
            <a:ext cx="594360" cy="32918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413308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069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/documents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297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List ingested documents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61772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8328" y="4709160"/>
            <a:ext cx="594360" cy="329184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" y="472744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4663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/upload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892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Upload + ingest document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21208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8328" y="5303520"/>
            <a:ext cx="594360" cy="329184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" y="532180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" y="5257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/chat-upload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" y="5486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In-chat file upload (ingest + preview)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580644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38328" y="5897880"/>
            <a:ext cx="594360" cy="329184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" y="591616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DELETE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5852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/documents/{id}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" y="6080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Remove document from index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FA5"/>
                </a:solidFill>
              </a:rPr>
              <a:t>News Aggregator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43400" y="224028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07408" y="2331720"/>
            <a:ext cx="594360" cy="32918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7408" y="235000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47488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/api/keywords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7488" y="25146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List tracked keywords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43400" y="283464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407408" y="2926080"/>
            <a:ext cx="594360" cy="329184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07408" y="294436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47488" y="2880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/api/keywords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47488" y="3108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Create / track a keyword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43400" y="342900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407408" y="3520440"/>
            <a:ext cx="594360" cy="329184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07408" y="35387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PATCH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/api/keywords/{id}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47488" y="3703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Update keyword settings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43400" y="402336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407408" y="4114800"/>
            <a:ext cx="594360" cy="329184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07408" y="413308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DELETE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47488" y="4069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/api/keywords/{id}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7488" y="4297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Delete keyword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43400" y="461772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407408" y="4709160"/>
            <a:ext cx="594360" cy="329184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07408" y="472744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47488" y="4663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/api/keywords/{id}/fetch-now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47488" y="4892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Trigger immediate fetch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43400" y="521208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407408" y="5303520"/>
            <a:ext cx="594360" cy="32918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07408" y="532180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47488" y="5257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/api/news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47488" y="5486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List articles (paginated)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43400" y="580644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407408" y="5897880"/>
            <a:ext cx="594360" cy="329184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07408" y="591616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47488" y="5852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/api/keywords/suggest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47488" y="6080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LLM keyword suggestion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38AFF"/>
                </a:solidFill>
              </a:rPr>
              <a:t>MCP Client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412480" y="224028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476488" y="2331720"/>
            <a:ext cx="594360" cy="32918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76488" y="235000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16567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/mcp-servers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16567" y="25146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List registered MCP servers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412480" y="283464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476488" y="2926080"/>
            <a:ext cx="594360" cy="329184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76488" y="294436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16567" y="2880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/mcp-servers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16567" y="3108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Register new MCP server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412480" y="342900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8476488" y="3520440"/>
            <a:ext cx="594360" cy="32918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76488" y="35387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16567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/mcp-servers/{id}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16567" y="3703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Get server details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412480" y="402336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476488" y="4114800"/>
            <a:ext cx="594360" cy="329184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476488" y="413308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PUT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16567" y="4069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/mcp-servers/{id}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16567" y="4297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Update server config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412480" y="461772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8476488" y="4709160"/>
            <a:ext cx="594360" cy="329184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76488" y="472744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DELETE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16567" y="4663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/mcp-servers/{id}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16567" y="4892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Remove MCP server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12480" y="521208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8476488" y="5303520"/>
            <a:ext cx="594360" cy="329184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476488" y="532180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16567" y="5257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/mcp-servers/{id}/connect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16567" y="5486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Connect to server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412480" y="5806440"/>
            <a:ext cx="3840480" cy="530352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8476488" y="5897880"/>
            <a:ext cx="594360" cy="329184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476488" y="591616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16567" y="5852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/mcp-servers/chat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16567" y="6080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Agent chat via all MCP tools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Up and running in under 5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920240"/>
            <a:ext cx="2834640" cy="461772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2834640" cy="6400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2057400"/>
            <a:ext cx="640080" cy="6400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Clone &amp; Install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291840"/>
            <a:ext cx="2651760" cy="1280160"/>
          </a:xfrm>
          <a:prstGeom prst="roundRect">
            <a:avLst/>
          </a:prstGeom>
          <a:solidFill>
            <a:srgbClr val="07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337560"/>
            <a:ext cx="2514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DE80"/>
                </a:solidFill>
              </a:rPr>
              <a:t>git clone https://github.com/ratulsarkar-iam/RAGenie.git
cd RAGenie
python3 -m venv venv &amp;&amp; source venv/bin/activate
pip install -r requirements.txt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39" y="1920240"/>
            <a:ext cx="2834640" cy="461772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39" y="1920240"/>
            <a:ext cx="283464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9120" y="205740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28346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Install Ollama + Pull a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79" y="3291840"/>
            <a:ext cx="2651760" cy="1280160"/>
          </a:xfrm>
          <a:prstGeom prst="roundRect">
            <a:avLst/>
          </a:prstGeom>
          <a:solidFill>
            <a:srgbClr val="07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3337560"/>
            <a:ext cx="2514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DE80"/>
                </a:solidFill>
              </a:rPr>
              <a:t># Install Ollama from https://ollama.com
ollama pull llama3.2          # 2 GB — quick start
ollama pull qwen2.5:7b        # 4.7 GB — recommended
ollama pull deepseek-r1:1.5b  # 1.1 GB — reasoning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920240"/>
            <a:ext cx="2834640" cy="461772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1920240"/>
            <a:ext cx="2834640" cy="6400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06640" y="2057400"/>
            <a:ext cx="640080" cy="640080"/>
          </a:xfrm>
          <a:prstGeom prst="ellipse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9" y="28346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Create Directories &amp; Start 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799" y="3291840"/>
            <a:ext cx="2651760" cy="1280160"/>
          </a:xfrm>
          <a:prstGeom prst="roundRect">
            <a:avLst/>
          </a:prstGeom>
          <a:solidFill>
            <a:srgbClr val="07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3337560"/>
            <a:ext cx="2514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DE80"/>
                </a:solidFill>
              </a:rPr>
              <a:t>mkdir -p data/documents data/index logs
python run_server.py
# API live at http://localhost:8000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1920240"/>
            <a:ext cx="2834640" cy="461772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B3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1920240"/>
            <a:ext cx="2834640" cy="64008"/>
          </a:xfrm>
          <a:prstGeom prst="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59" y="2057400"/>
            <a:ext cx="640080" cy="640080"/>
          </a:xfrm>
          <a:prstGeom prst="ellipse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28346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Start Frontend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19" y="3291840"/>
            <a:ext cx="2651760" cy="1280160"/>
          </a:xfrm>
          <a:prstGeom prst="roundRect">
            <a:avLst/>
          </a:prstGeom>
          <a:solidFill>
            <a:srgbClr val="07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91472" y="3337560"/>
            <a:ext cx="2514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DE80"/>
                </a:solidFill>
              </a:rPr>
              <a:t>cd frontend
npm install
npm run dev
# UI live at http://localhost:5173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6629400"/>
            <a:ext cx="11612880" cy="502920"/>
          </a:xfrm>
          <a:prstGeom prst="roundRect">
            <a:avLst/>
          </a:prstGeom>
          <a:solidFill>
            <a:srgbClr val="0A281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7025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⚡  One-command start: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670255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./start.sh  — launches both backend and frontend together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System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Minimum and recommended specs to run RAGenie comfortably.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11612880" cy="475488"/>
          </a:xfrm>
          <a:prstGeom prst="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C5"/>
                </a:solidFill>
              </a:rP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C5"/>
                </a:solidFill>
              </a:rPr>
              <a:t>Minimum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C5"/>
                </a:solidFill>
              </a:rPr>
              <a:t>Recommended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C5"/>
                </a:solidFill>
              </a:rPr>
              <a:t>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11612880" cy="5029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4688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</a:rPr>
              <a:t>3.9+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468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3.11+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Core backend runtime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07792"/>
            <a:ext cx="11612880" cy="502920"/>
          </a:xfrm>
          <a:prstGeom prst="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992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Node.js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9992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</a:rPr>
              <a:t>16+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9992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18+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992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Frontend build toolchain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438144"/>
            <a:ext cx="11612880" cy="5029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295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5295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</a:rPr>
              <a:t>8 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5295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16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295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Needed for running LLMs locally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968496"/>
            <a:ext cx="11612880" cy="502920"/>
          </a:xfrm>
          <a:prstGeom prst="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5993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05993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</a:rPr>
              <a:t>5 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05993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20 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59935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Space for models + documents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498848"/>
            <a:ext cx="11612880" cy="5029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590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Ollama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590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</a:rPr>
              <a:t>Latest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590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Latest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5902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Local LLM inference engine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29200"/>
            <a:ext cx="11612880" cy="502920"/>
          </a:xfrm>
          <a:prstGeom prst="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1206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GPU/NPU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1206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</a:rPr>
              <a:t>CPU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51206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Apple M1+ / NVIDIA CUDA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1206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Hardware acceleration (optional)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5577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BEC5"/>
                </a:solidFill>
              </a:rPr>
              <a:t>Supported Platforms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6035040"/>
            <a:ext cx="3749039" cy="64008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79" y="6080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🍎 macOS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79" y="63825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M1/M2/M3 — MPS acceleration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51959" y="6035040"/>
            <a:ext cx="3749039" cy="64008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0" y="6080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8FFF"/>
                </a:solidFill>
              </a:rPr>
              <a:t>🐧 Linux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63825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CUDA/CPU — full support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6035040"/>
            <a:ext cx="3749039" cy="64008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66760" y="6080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🪟 Windows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63825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CPU — Docker recommended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Why RAGenie?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</a:rPr>
              <a:t>Key differentiators over cloud-based alternatives.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11612880" cy="475488"/>
          </a:xfrm>
          <a:prstGeom prst="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B82"/>
                </a:solidFill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E0"/>
                </a:solidFill>
              </a:rPr>
              <a:t>RAGenie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C5"/>
                </a:solidFill>
              </a:rPr>
              <a:t>ChatGPT / Gemini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C5"/>
                </a:solidFill>
              </a:rPr>
              <a:t>Self-hosted LLM solutions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11612880" cy="448056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50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E0"/>
                </a:solidFill>
              </a:rPr>
              <a:t>✅ 100% on-device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50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❌ Data sent to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450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⚠️  Varies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11612880" cy="448056"/>
          </a:xfrm>
          <a:prstGeom prst="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07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9077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E0"/>
                </a:solidFill>
              </a:rPr>
              <a:t>✅ Free forever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9077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❌ Monthly subscription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9077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✅ Free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91840"/>
            <a:ext cx="11612880" cy="448056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364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Document 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3649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E0"/>
                </a:solidFill>
              </a:rPr>
              <a:t>✅ BM25 + 8 file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3649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⚠️  Limited uploads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3649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⚠️  Manual setup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49039"/>
            <a:ext cx="11612880" cy="448056"/>
          </a:xfrm>
          <a:prstGeom prst="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8221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Multi-Model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82219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E0"/>
                </a:solidFill>
              </a:rPr>
              <a:t>✅ 3-role orchestration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82219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❌ Single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82219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⚠️  Manual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206240"/>
            <a:ext cx="11612880" cy="448056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279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279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E0"/>
                </a:solidFill>
              </a:rPr>
              <a:t>✅ Built-in + ML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279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❌ Not included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279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❌ Not included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663440"/>
            <a:ext cx="11612880" cy="448056"/>
          </a:xfrm>
          <a:prstGeom prst="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736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MCP 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736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E0"/>
                </a:solidFill>
              </a:rPr>
              <a:t>✅ Server + Client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736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⚠️  Via ChatGPT plugins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4736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❌ Not standard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120640"/>
            <a:ext cx="11612880" cy="448056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193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News Aggregator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1937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E0"/>
                </a:solidFill>
              </a:rPr>
              <a:t>✅ Built-in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51937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❌ Not included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51937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❌ Not included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577840"/>
            <a:ext cx="11612880" cy="448056"/>
          </a:xfrm>
          <a:prstGeom prst="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650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Persistent Memory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56509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E0"/>
                </a:solidFill>
              </a:rPr>
              <a:t>✅ SQLite-backed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56509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⚠️  Session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56509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⚠️  Varies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035040"/>
            <a:ext cx="11612880" cy="448056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1081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Auth &amp; Rate Limiting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6108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E0"/>
                </a:solidFill>
              </a:rPr>
              <a:t>✅ JWT + slowapi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6108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✅ Managed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6108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⚠️  Manual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6492240"/>
            <a:ext cx="11612880" cy="448056"/>
          </a:xfrm>
          <a:prstGeom prst="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565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Open Source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6565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E0"/>
                </a:solidFill>
              </a:rPr>
              <a:t>✅ MIT License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6565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❌ Proprietary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6565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✅ Varies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E0"/>
                </a:solidFill>
              </a:rPr>
              <a:t>WORKFLOW 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Chat Request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Complete end-to-end flow from user input to streamed AI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691640"/>
            <a:ext cx="3657600" cy="5074920"/>
          </a:xfrm>
          <a:prstGeom prst="rect">
            <a:avLst/>
          </a:prstGeom>
          <a:solidFill>
            <a:srgbClr val="0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7190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E0"/>
                </a:solidFill>
              </a:rPr>
              <a:t>RECEIVE &amp; AUTH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691640"/>
            <a:ext cx="3657600" cy="5074920"/>
          </a:xfrm>
          <a:prstGeom prst="rect">
            <a:avLst/>
          </a:prstGeom>
          <a:solidFill>
            <a:srgbClr val="0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190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</a:rPr>
              <a:t>RETRIEVE &amp; 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1691640"/>
            <a:ext cx="4069080" cy="5074920"/>
          </a:xfrm>
          <a:prstGeom prst="rect">
            <a:avLst/>
          </a:prstGeom>
          <a:solidFill>
            <a:srgbClr val="06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2" y="1719072"/>
            <a:ext cx="3977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GENERATE &amp; STREAM</a:t>
            </a:r>
          </a:p>
        </p:txBody>
      </p:sp>
      <p:sp>
        <p:nvSpPr>
          <p:cNvPr id="13" name="Oval 12"/>
          <p:cNvSpPr/>
          <p:nvPr/>
        </p:nvSpPr>
        <p:spPr>
          <a:xfrm>
            <a:off x="1298448" y="2057400"/>
            <a:ext cx="1463040" cy="438912"/>
          </a:xfrm>
          <a:prstGeom prst="ellipse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User Sends Message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29968" y="2496312"/>
            <a:ext cx="0" cy="292608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115568" y="2788920"/>
            <a:ext cx="1828800" cy="457200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WebSocket / REST
Handler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29968" y="3246120"/>
            <a:ext cx="0" cy="27432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1252728" y="3520440"/>
            <a:ext cx="1554480" cy="548640"/>
          </a:xfrm>
          <a:prstGeom prst="diamond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Auth
Enabled?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3703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DE80"/>
                </a:solidFill>
              </a:rP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07208" y="3794760"/>
            <a:ext cx="548640" cy="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55848" y="3566160"/>
            <a:ext cx="1645920" cy="457200"/>
          </a:xfrm>
          <a:prstGeom prst="roundRect">
            <a:avLst/>
          </a:prstGeom>
          <a:solidFill>
            <a:srgbClr val="0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ADE80"/>
                </a:solidFill>
              </a:rPr>
              <a:t>Validate JWT
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703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6B35"/>
                </a:solidFill>
              </a:rPr>
              <a:t>NO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29968" y="4069080"/>
            <a:ext cx="0" cy="27432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115568" y="4343400"/>
            <a:ext cx="1828800" cy="457200"/>
          </a:xfrm>
          <a:prstGeom prst="round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Rate Limit
Check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29968" y="4800600"/>
            <a:ext cx="0" cy="27432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mond 24"/>
          <p:cNvSpPr/>
          <p:nvPr/>
        </p:nvSpPr>
        <p:spPr>
          <a:xfrm>
            <a:off x="1252728" y="5074920"/>
            <a:ext cx="1554480" cy="548640"/>
          </a:xfrm>
          <a:prstGeom prst="diamond">
            <a:avLst/>
          </a:prstGeom>
          <a:solidFill>
            <a:srgbClr val="2A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Reasoning
Mode?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257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38AFF"/>
                </a:solidFill>
              </a:rPr>
              <a:t>AUTO-DETECT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07208" y="5349240"/>
            <a:ext cx="1261872" cy="0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892040" y="2057400"/>
            <a:ext cx="2011680" cy="457200"/>
          </a:xfrm>
          <a:prstGeom prst="roundRect">
            <a:avLst/>
          </a:prstGeom>
          <a:solidFill>
            <a:srgbClr val="0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ADE80"/>
                </a:solidFill>
              </a:rPr>
              <a:t>Parse Message
+ File Attachments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97880" y="2514600"/>
            <a:ext cx="0" cy="27432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892040" y="2788920"/>
            <a:ext cx="2011680" cy="457200"/>
          </a:xfrm>
          <a:prstGeom prst="roundRect">
            <a:avLst/>
          </a:prstGeom>
          <a:solidFill>
            <a:srgbClr val="0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BFA5"/>
                </a:solidFill>
              </a:rPr>
              <a:t>BM25 Search
Document Index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97880" y="3246120"/>
            <a:ext cx="0" cy="27432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892040" y="3520440"/>
            <a:ext cx="2011680" cy="45720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Retrieve Top-K
Document Chunks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97880" y="3977639"/>
            <a:ext cx="0" cy="274321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892040" y="4251960"/>
            <a:ext cx="2011680" cy="457200"/>
          </a:xfrm>
          <a:prstGeom prst="roundRect">
            <a:avLst/>
          </a:prstGeom>
          <a:solidFill>
            <a:srgbClr val="18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ADE80"/>
                </a:solidFill>
              </a:rPr>
              <a:t>DuckDuckGo
Web Search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897880" y="4709160"/>
            <a:ext cx="0" cy="27432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892040" y="4983480"/>
            <a:ext cx="2011680" cy="457200"/>
          </a:xfrm>
          <a:prstGeom prst="roundRect">
            <a:avLst/>
          </a:prstGeom>
          <a:solidFill>
            <a:srgbClr val="282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D600"/>
                </a:solidFill>
              </a:rPr>
              <a:t>Inject Memory
Context (top-8)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897880" y="5440680"/>
            <a:ext cx="0" cy="27432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892040" y="5715000"/>
            <a:ext cx="2011680" cy="45720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Build Final Prompt
(RAG + Memory + Query)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903720" y="5943600"/>
            <a:ext cx="1033272" cy="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iamond 39"/>
          <p:cNvSpPr/>
          <p:nvPr/>
        </p:nvSpPr>
        <p:spPr>
          <a:xfrm>
            <a:off x="9052560" y="2057400"/>
            <a:ext cx="1828800" cy="594360"/>
          </a:xfrm>
          <a:prstGeom prst="diamond">
            <a:avLst/>
          </a:prstGeom>
          <a:solidFill>
            <a:srgbClr val="28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Reasoning
Mode ON?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22677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38AFF"/>
                </a:solidFill>
              </a:rPr>
              <a:t>YES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7132320" y="2359152"/>
            <a:ext cx="1920240" cy="0"/>
          </a:xfrm>
          <a:prstGeom prst="line">
            <a:avLst/>
          </a:prstGeom>
          <a:ln w="19050">
            <a:solidFill>
              <a:srgbClr val="B38A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720840" y="2130552"/>
            <a:ext cx="1417320" cy="457200"/>
          </a:xfrm>
          <a:prstGeom prst="roundRect">
            <a:avLst/>
          </a:prstGeom>
          <a:solidFill>
            <a:srgbClr val="200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B38AFF"/>
                </a:solidFill>
              </a:rPr>
              <a:t>Reasoning
Model (DeepSeek)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24928" y="2587752"/>
            <a:ext cx="0" cy="429768"/>
          </a:xfrm>
          <a:prstGeom prst="line">
            <a:avLst/>
          </a:prstGeom>
          <a:ln w="19050">
            <a:solidFill>
              <a:srgbClr val="B38A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720840" y="3017520"/>
            <a:ext cx="1417320" cy="457200"/>
          </a:xfrm>
          <a:prstGeom prst="roundRect">
            <a:avLst/>
          </a:prstGeom>
          <a:solidFill>
            <a:srgbClr val="200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B38AFF"/>
                </a:solidFill>
              </a:rPr>
              <a:t>Analysis →
Feed to Main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27080" y="22677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6B35"/>
                </a:solidFill>
              </a:rPr>
              <a:t>NO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881360" y="2359152"/>
            <a:ext cx="548640" cy="0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966960" y="2651760"/>
            <a:ext cx="0" cy="274320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052560" y="2926080"/>
            <a:ext cx="1828800" cy="475488"/>
          </a:xfrm>
          <a:prstGeom prst="roundRect">
            <a:avLst/>
          </a:prstGeom>
          <a:solidFill>
            <a:srgbClr val="18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4ADE80"/>
                </a:solidFill>
              </a:rPr>
              <a:t>Main LLM
(Gemma / Qwen)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966960" y="3401568"/>
            <a:ext cx="0" cy="256032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iamond 50"/>
          <p:cNvSpPr/>
          <p:nvPr/>
        </p:nvSpPr>
        <p:spPr>
          <a:xfrm>
            <a:off x="9098280" y="3657600"/>
            <a:ext cx="1737360" cy="548640"/>
          </a:xfrm>
          <a:prstGeom prst="diamond">
            <a:avLst/>
          </a:prstGeom>
          <a:solidFill>
            <a:srgbClr val="2A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Main Model
Succeeded?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63072" y="3840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5C8D"/>
                </a:solidFill>
              </a:rPr>
              <a:t>NO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835640" y="3931920"/>
            <a:ext cx="548640" cy="0"/>
          </a:xfrm>
          <a:prstGeom prst="line">
            <a:avLst/>
          </a:prstGeom>
          <a:ln w="19050">
            <a:solidFill>
              <a:srgbClr val="FF5C8D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1384280" y="3703320"/>
            <a:ext cx="1463040" cy="457200"/>
          </a:xfrm>
          <a:prstGeom prst="roundRect">
            <a:avLst/>
          </a:prstGeom>
          <a:solidFill>
            <a:srgbClr val="2A1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5C8D"/>
                </a:solidFill>
              </a:rPr>
              <a:t>Fallback
Model (Qwen)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38587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DE80"/>
                </a:solidFill>
              </a:rPr>
              <a:t>YES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966960" y="4206240"/>
            <a:ext cx="0" cy="27432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9052560" y="4480560"/>
            <a:ext cx="1828800" cy="475488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Stream Tokens
via WebSocket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966960" y="4956048"/>
            <a:ext cx="0" cy="27432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9052560" y="5230368"/>
            <a:ext cx="1828800" cy="475488"/>
          </a:xfrm>
          <a:prstGeom prst="roundRect">
            <a:avLst/>
          </a:prstGeom>
          <a:solidFill>
            <a:srgbClr val="182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D600"/>
                </a:solidFill>
              </a:rPr>
              <a:t>Update Conversation
History + Memory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966960" y="5705856"/>
            <a:ext cx="0" cy="27432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9235440" y="5980176"/>
            <a:ext cx="146304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Response Delivered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6019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B82"/>
                </a:solidFill>
              </a:rPr>
              <a:t>★  Dashed outlines = decision nodes   ●  Rounded = process step   ◉ = start/end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WORKFLOW 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Document Ingestion &amp; Query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From raw file upload to BM25-indexed retrieval and LLM-augmented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7373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DE80"/>
                </a:solidFill>
              </a:rPr>
              <a:t>INGESTION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57400"/>
            <a:ext cx="1508760" cy="6858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D1B2A"/>
                </a:solidFill>
              </a:rPr>
              <a:t>File Upload
(UI / CLI / Chat)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39" y="2057400"/>
            <a:ext cx="1508760" cy="6858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Loader
Detects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59" y="2057400"/>
            <a:ext cx="1508760" cy="685800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Extract Text
(PDF/DOCX/OCR/Audio)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79" y="2057400"/>
            <a:ext cx="1508760" cy="685800"/>
          </a:xfrm>
          <a:prstGeom prst="round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D1B2A"/>
                </a:solidFill>
              </a:rPr>
              <a:t>Chunk Text
1000 ch / 200 overlap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7999" y="2057400"/>
            <a:ext cx="1508760" cy="685800"/>
          </a:xfrm>
          <a:prstGeom prst="round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SHA-256
Dedup Hash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19" y="2057400"/>
            <a:ext cx="1508760" cy="6858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Add to
BM25 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39" y="2057400"/>
            <a:ext cx="1508760" cy="6858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D1B2A"/>
                </a:solidFill>
              </a:rPr>
              <a:t>Persist
page_index.json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83080" y="2400300"/>
            <a:ext cx="137159" cy="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29000" y="2400300"/>
            <a:ext cx="137159" cy="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74920" y="2400300"/>
            <a:ext cx="137159" cy="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20840" y="2400300"/>
            <a:ext cx="137159" cy="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66759" y="2400300"/>
            <a:ext cx="137160" cy="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12679" y="2400300"/>
            <a:ext cx="137160" cy="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783080" y="2400300"/>
            <a:ext cx="137160" cy="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28999" y="2400300"/>
            <a:ext cx="137160" cy="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74919" y="2400300"/>
            <a:ext cx="137160" cy="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20840" y="2400300"/>
            <a:ext cx="137160" cy="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66759" y="2400300"/>
            <a:ext cx="137160" cy="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012680" y="2400300"/>
            <a:ext cx="137160" cy="0"/>
          </a:xfrm>
          <a:prstGeom prst="line">
            <a:avLst/>
          </a:prstGeom>
          <a:ln w="1524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12379" y="2743200"/>
            <a:ext cx="0" cy="274320"/>
          </a:xfrm>
          <a:prstGeom prst="line">
            <a:avLst/>
          </a:prstGeom>
          <a:ln w="19050">
            <a:solidFill>
              <a:srgbClr val="B38A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/>
          <p:cNvSpPr/>
          <p:nvPr/>
        </p:nvSpPr>
        <p:spPr>
          <a:xfrm>
            <a:off x="6972299" y="3017520"/>
            <a:ext cx="1280160" cy="475488"/>
          </a:xfrm>
          <a:prstGeom prst="diamond">
            <a:avLst/>
          </a:prstGeom>
          <a:solidFill>
            <a:srgbClr val="28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Duplicate
Chunk?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8179" y="3200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5C8D"/>
                </a:solidFill>
              </a:rPr>
              <a:t>YES → SKIP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52459" y="3255264"/>
            <a:ext cx="548641" cy="0"/>
          </a:xfrm>
          <a:prstGeom prst="line">
            <a:avLst/>
          </a:prstGeom>
          <a:ln w="19050">
            <a:solidFill>
              <a:srgbClr val="FF5C8D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801100" y="3090672"/>
            <a:ext cx="1280160" cy="384048"/>
          </a:xfrm>
          <a:prstGeom prst="ellipse">
            <a:avLst/>
          </a:prstGeom>
          <a:solidFill>
            <a:srgbClr val="FF5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D1B2A"/>
                </a:solidFill>
              </a:rPr>
              <a:t>Discard
Duplicate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6579" y="3200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DE80"/>
                </a:solidFill>
              </a:rPr>
              <a:t>NO → INDEX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70332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374903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E0"/>
                </a:solidFill>
              </a:rPr>
              <a:t>QUERY PATH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4069080"/>
            <a:ext cx="1508760" cy="685800"/>
          </a:xfrm>
          <a:prstGeom prst="round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D1B2A"/>
                </a:solidFill>
              </a:rPr>
              <a:t>User Query
or File in Chat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20239" y="4069080"/>
            <a:ext cx="1508760" cy="685800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BM25 Search
+ Term Expand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66159" y="4069080"/>
            <a:ext cx="1508760" cy="6858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Top-K Chunk
Retrieval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12079" y="4069080"/>
            <a:ext cx="1508760" cy="6858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D1B2A"/>
                </a:solidFill>
              </a:rPr>
              <a:t>Context
Builder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7999" y="4069080"/>
            <a:ext cx="1508760" cy="6858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Prompt
Assembly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19" y="4069080"/>
            <a:ext cx="1508760" cy="685800"/>
          </a:xfrm>
          <a:prstGeom prst="round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LLM
Generation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49839" y="4069080"/>
            <a:ext cx="1508760" cy="6858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D1B2A"/>
                </a:solidFill>
              </a:rPr>
              <a:t>Streamed
Response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783080" y="4411980"/>
            <a:ext cx="137160" cy="0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428999" y="4411980"/>
            <a:ext cx="137160" cy="0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074919" y="4411980"/>
            <a:ext cx="137160" cy="0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720840" y="4411980"/>
            <a:ext cx="137160" cy="0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66759" y="4411980"/>
            <a:ext cx="137160" cy="0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012680" y="4411980"/>
            <a:ext cx="137160" cy="0"/>
          </a:xfrm>
          <a:prstGeom prst="line">
            <a:avLst/>
          </a:prstGeom>
          <a:ln w="1524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74320" y="486460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B82"/>
                </a:solidFill>
              </a:rPr>
              <a:t>Medical term
expansion built-in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486460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B82"/>
                </a:solidFill>
              </a:rPr>
              <a:t>top_k=3
(configurable)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486460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B82"/>
                </a:solidFill>
              </a:rPr>
              <a:t>Preserves chunk
boundary context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486460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B82"/>
                </a:solidFill>
              </a:rPr>
              <a:t>System prompt
+ RAG + memory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86460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B82"/>
                </a:solidFill>
              </a:rPr>
              <a:t>Reasoning model
fires if needed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86460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B82"/>
                </a:solidFill>
              </a:rPr>
              <a:t>Token streaming
via WebSocket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532120"/>
            <a:ext cx="11612880" cy="1115568"/>
          </a:xfrm>
          <a:prstGeom prst="roundRect">
            <a:avLst/>
          </a:prstGeom>
          <a:solidFill>
            <a:srgbClr val="162A3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6235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Supported File Types: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0076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0BEC5"/>
                </a:solidFill>
              </a:rPr>
              <a:t>Documents: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3093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PDF · DOCX · DOC · TXT · MD · Markdown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37560" y="60076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0BEC5"/>
                </a:solidFill>
              </a:rPr>
              <a:t>Spreadsheets: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37560" y="63093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XLSX · XLS · CSV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60076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0BEC5"/>
                </a:solidFill>
              </a:rPr>
              <a:t>Images: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63093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JPG · PNG · GIF · BMP · WebP · TIFF · SVG  (OCR optional)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60076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0BEC5"/>
                </a:solidFill>
              </a:rPr>
              <a:t>Audio: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98280" y="63093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MP3 · WAV · OGG · FLAC · M4A · AAC · WMA  (transcription optional)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WORKFLOW 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Analytics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From raw data file to interactive charts, ML models, and predictions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7400" y="1828800"/>
            <a:ext cx="2468880" cy="5669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1B2A"/>
                </a:solidFill>
              </a:rPr>
              <a:t>Upload Data File
CSV · Excel · JSON · TSV · PDF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2395728"/>
            <a:ext cx="0" cy="137160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2532888"/>
            <a:ext cx="2468880" cy="566928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Loader
pandas.read_*() — all sheets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" y="3099816"/>
            <a:ext cx="0" cy="137160"/>
          </a:xfrm>
          <a:prstGeom prst="line">
            <a:avLst/>
          </a:prstGeom>
          <a:ln w="19050">
            <a:solidFill>
              <a:srgbClr val="298F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57400" y="3236976"/>
            <a:ext cx="2468880" cy="566928"/>
          </a:xfrm>
          <a:prstGeom prst="round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Schema Detection
dtype inference · null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91840" y="3803904"/>
            <a:ext cx="0" cy="13716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57400" y="3941064"/>
            <a:ext cx="2468880" cy="566928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Basic Statistics
mean · median · std · quartiles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1840" y="4507992"/>
            <a:ext cx="0" cy="137160"/>
          </a:xfrm>
          <a:prstGeom prst="line">
            <a:avLst/>
          </a:prstGeom>
          <a:ln w="19050">
            <a:solidFill>
              <a:srgbClr val="00BFA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057400" y="4645152"/>
            <a:ext cx="2468880" cy="56692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Advanced Statistics
skewness · kurtosis · IQR · correlations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1840" y="5212080"/>
            <a:ext cx="0" cy="13716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057400" y="5349240"/>
            <a:ext cx="2468880" cy="566928"/>
          </a:xfrm>
          <a:prstGeom prst="round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Outlier Detection
IQR method  +  Z-score method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91840" y="6053327"/>
            <a:ext cx="0" cy="182880"/>
          </a:xfrm>
          <a:prstGeom prst="line">
            <a:avLst/>
          </a:prstGeom>
          <a:ln w="19050">
            <a:solidFill>
              <a:srgbClr val="B38A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iamond 18"/>
          <p:cNvSpPr/>
          <p:nvPr/>
        </p:nvSpPr>
        <p:spPr>
          <a:xfrm>
            <a:off x="2468880" y="6236207"/>
            <a:ext cx="1645920" cy="566928"/>
          </a:xfrm>
          <a:prstGeom prst="diamond">
            <a:avLst/>
          </a:prstGeom>
          <a:solidFill>
            <a:srgbClr val="28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Numeric Cols
Available?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643737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5C8D"/>
                </a:solidFill>
              </a:rP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645920" y="6519671"/>
            <a:ext cx="822960" cy="0"/>
          </a:xfrm>
          <a:prstGeom prst="line">
            <a:avLst/>
          </a:prstGeom>
          <a:ln w="19050">
            <a:solidFill>
              <a:srgbClr val="FF5C8D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65759" y="6355079"/>
            <a:ext cx="1234440" cy="384048"/>
          </a:xfrm>
          <a:prstGeom prst="ellipse">
            <a:avLst/>
          </a:prstGeom>
          <a:solidFill>
            <a:srgbClr val="FF5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D1B2A"/>
                </a:solidFill>
              </a:rPr>
              <a:t>Stats Only
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643737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DE80"/>
                </a:solidFill>
              </a:rPr>
              <a:t>YES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0" y="6519671"/>
            <a:ext cx="822960" cy="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937760" y="6309359"/>
            <a:ext cx="1463040" cy="457200"/>
          </a:xfrm>
          <a:prstGeom prst="roundRect">
            <a:avLst/>
          </a:prstGeom>
          <a:solidFill>
            <a:srgbClr val="0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ADE80"/>
                </a:solidFill>
              </a:rPr>
              <a:t>ML Model
Selection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38AFF"/>
                </a:solidFill>
              </a:rPr>
              <a:t>ML MODELS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2194560"/>
            <a:ext cx="2103120" cy="530352"/>
          </a:xfrm>
          <a:prstGeom prst="round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Linear Regression
(continuous target)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86800" y="2724912"/>
            <a:ext cx="0" cy="91440"/>
          </a:xfrm>
          <a:prstGeom prst="line">
            <a:avLst/>
          </a:prstGeom>
          <a:ln w="19050">
            <a:solidFill>
              <a:srgbClr val="B38A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635240" y="2816352"/>
            <a:ext cx="2103120" cy="530352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Random Forest Regressor
(non-linear)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86800" y="3346704"/>
            <a:ext cx="0" cy="91440"/>
          </a:xfrm>
          <a:prstGeom prst="line">
            <a:avLst/>
          </a:prstGeom>
          <a:ln w="19050">
            <a:solidFill>
              <a:srgbClr val="298F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635240" y="3438144"/>
            <a:ext cx="2103120" cy="530352"/>
          </a:xfrm>
          <a:prstGeom prst="round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Logistic Regression
(binary classification)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86800" y="3968496"/>
            <a:ext cx="0" cy="9144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635240" y="4059936"/>
            <a:ext cx="2103120" cy="530352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Random Forest Classifier
(multi-class)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686800" y="4590288"/>
            <a:ext cx="0" cy="91440"/>
          </a:xfrm>
          <a:prstGeom prst="line">
            <a:avLst/>
          </a:prstGeom>
          <a:ln w="19050">
            <a:solidFill>
              <a:srgbClr val="00BFA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35240" y="4681728"/>
            <a:ext cx="2103120" cy="53035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Time Series Trend
(future forecasting)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86800" y="5212080"/>
            <a:ext cx="0" cy="9144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686800" y="5303520"/>
            <a:ext cx="0" cy="22860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635240" y="5532120"/>
            <a:ext cx="2103120" cy="530352"/>
          </a:xfrm>
          <a:prstGeom prst="roundRect">
            <a:avLst/>
          </a:prstGeom>
          <a:solidFill>
            <a:srgbClr val="182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ADE80"/>
                </a:solidFill>
              </a:rPr>
              <a:t>Plotly Chart
Generation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291840" y="6720840"/>
            <a:ext cx="5394960" cy="0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" y="6766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600"/>
                </a:solidFill>
              </a:rPr>
              <a:t>VISUALIZATION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7114032"/>
            <a:ext cx="1325880" cy="347472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71506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Histogram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19072" y="7114032"/>
            <a:ext cx="1325880" cy="347472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64792" y="71506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Scatter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63824" y="7114032"/>
            <a:ext cx="1325880" cy="347472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9544" y="71506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Line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08576" y="7114032"/>
            <a:ext cx="1325880" cy="347472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54296" y="71506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Bar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53328" y="7114032"/>
            <a:ext cx="1325880" cy="347472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9048" y="71506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Box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98079" y="7114032"/>
            <a:ext cx="1325880" cy="347472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43800" y="71506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Heatmap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42832" y="7114032"/>
            <a:ext cx="1325880" cy="347472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88552" y="71506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Pie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87584" y="7114032"/>
            <a:ext cx="1325880" cy="347472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33304" y="71506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Auto-Viz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38AFF"/>
                </a:solidFill>
              </a:rPr>
              <a:t>WORKFLOW 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MCP Tool-Call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How RAGenie connects to external MCP servers and executes tool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E0"/>
                </a:solidFill>
              </a:rPr>
              <a:t>SETUP  (one-time per server)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48840"/>
            <a:ext cx="3200400" cy="530352"/>
          </a:xfrm>
          <a:prstGeom prst="round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D1B2A"/>
                </a:solidFill>
              </a:rPr>
              <a:t>User Registers MCP Server
(UI: name · transport · URL/command)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4519" y="2679192"/>
            <a:ext cx="0" cy="13716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2816352"/>
            <a:ext cx="3200400" cy="530352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Config Saved
to SQLite DB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74519" y="3346704"/>
            <a:ext cx="0" cy="137160"/>
          </a:xfrm>
          <a:prstGeom prst="line">
            <a:avLst/>
          </a:prstGeom>
          <a:ln w="19050">
            <a:solidFill>
              <a:srgbClr val="298F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3483864"/>
            <a:ext cx="3200400" cy="530352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MCPClientManager
initialises connection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74519" y="4014215"/>
            <a:ext cx="0" cy="137161"/>
          </a:xfrm>
          <a:prstGeom prst="line">
            <a:avLst/>
          </a:prstGeom>
          <a:ln w="19050">
            <a:solidFill>
              <a:srgbClr val="00BFA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" y="4151376"/>
            <a:ext cx="3200400" cy="53035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D1B2A"/>
                </a:solidFill>
              </a:rPr>
              <a:t>Handshake: list_tools()
Fetch all tool schemas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74519" y="4681728"/>
            <a:ext cx="0" cy="13716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320" y="4818888"/>
            <a:ext cx="3200400" cy="530352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D1B2A"/>
                </a:solidFill>
              </a:rPr>
              <a:t>Register tools in LLM Agent
as  server/tool_name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1737360"/>
            <a:ext cx="36576" cy="5029200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175564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35"/>
                </a:solidFill>
              </a:rPr>
              <a:t>PER MESSAGE  (runtime)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148840"/>
            <a:ext cx="1645920" cy="43891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1B2A"/>
                </a:solidFill>
              </a:rPr>
              <a:t>User Message
Received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0" y="2587752"/>
            <a:ext cx="0" cy="246888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60" y="2834640"/>
            <a:ext cx="2011680" cy="502920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LLM Agent
Processes Prompt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0" y="3337560"/>
            <a:ext cx="0" cy="246888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mond 22"/>
          <p:cNvSpPr/>
          <p:nvPr/>
        </p:nvSpPr>
        <p:spPr>
          <a:xfrm>
            <a:off x="6400800" y="3584448"/>
            <a:ext cx="1828800" cy="566928"/>
          </a:xfrm>
          <a:prstGeom prst="diamond">
            <a:avLst/>
          </a:prstGeom>
          <a:solidFill>
            <a:srgbClr val="28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Needs External
Tool?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78561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BEC5"/>
                </a:solidFill>
              </a:rPr>
              <a:t>NO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577840" y="3867912"/>
            <a:ext cx="822960" cy="0"/>
          </a:xfrm>
          <a:prstGeom prst="line">
            <a:avLst/>
          </a:prstGeom>
          <a:ln w="19050">
            <a:solidFill>
              <a:srgbClr val="B0BEC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931920" y="3639312"/>
            <a:ext cx="1600200" cy="45720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Direct LLM
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78561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C8E0"/>
                </a:solidFill>
              </a:rPr>
              <a:t>YES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29600" y="3867912"/>
            <a:ext cx="731520" cy="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961120" y="3639312"/>
            <a:ext cx="1645920" cy="457200"/>
          </a:xfrm>
          <a:prstGeom prst="round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0C8E0"/>
                </a:solidFill>
              </a:rPr>
              <a:t>Select Tool:
server/tool_name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0" y="4151376"/>
            <a:ext cx="0" cy="256032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6400800" y="4407408"/>
            <a:ext cx="1828800" cy="566928"/>
          </a:xfrm>
          <a:prstGeom prst="diamond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Transport
Type?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8828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BFA5"/>
                </a:solidFill>
              </a:rPr>
              <a:t>stdio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0" y="4974336"/>
            <a:ext cx="0" cy="219456"/>
          </a:xfrm>
          <a:prstGeom prst="line">
            <a:avLst/>
          </a:prstGeom>
          <a:ln w="19050">
            <a:solidFill>
              <a:srgbClr val="00BFA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51960" y="5193792"/>
            <a:ext cx="1554480" cy="475488"/>
          </a:xfrm>
          <a:prstGeom prst="round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0BFA5"/>
                </a:solidFill>
              </a:rPr>
              <a:t>Launch subprocess
stdin/stdout IPC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0" y="5669280"/>
            <a:ext cx="0" cy="201168"/>
          </a:xfrm>
          <a:prstGeom prst="line">
            <a:avLst/>
          </a:prstGeom>
          <a:ln w="19050">
            <a:solidFill>
              <a:srgbClr val="00BFA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15200" y="48828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98FFF"/>
                </a:solidFill>
              </a:rPr>
              <a:t>SSE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15200" y="4974336"/>
            <a:ext cx="0" cy="219456"/>
          </a:xfrm>
          <a:prstGeom prst="line">
            <a:avLst/>
          </a:prstGeom>
          <a:ln w="19050">
            <a:solidFill>
              <a:srgbClr val="298F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37960" y="5193792"/>
            <a:ext cx="1554480" cy="475488"/>
          </a:xfrm>
          <a:prstGeom prst="round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298FFF"/>
                </a:solidFill>
              </a:rPr>
              <a:t>HTTP GET
Server-Sent Events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15200" y="5669280"/>
            <a:ext cx="0" cy="201168"/>
          </a:xfrm>
          <a:prstGeom prst="line">
            <a:avLst/>
          </a:prstGeom>
          <a:ln w="19050">
            <a:solidFill>
              <a:srgbClr val="298F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601200" y="48828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38AFF"/>
                </a:solidFill>
              </a:rPr>
              <a:t>HTTP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01200" y="4974336"/>
            <a:ext cx="0" cy="219456"/>
          </a:xfrm>
          <a:prstGeom prst="line">
            <a:avLst/>
          </a:prstGeom>
          <a:ln w="19050">
            <a:solidFill>
              <a:srgbClr val="B38A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823960" y="5193792"/>
            <a:ext cx="1554480" cy="475488"/>
          </a:xfrm>
          <a:prstGeom prst="round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B38AFF"/>
                </a:solidFill>
              </a:rPr>
              <a:t>HTTP POST
Streamable HTTP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601200" y="5669280"/>
            <a:ext cx="0" cy="201168"/>
          </a:xfrm>
          <a:prstGeom prst="line">
            <a:avLst/>
          </a:prstGeom>
          <a:ln w="19050">
            <a:solidFill>
              <a:srgbClr val="B38A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029200" y="5870448"/>
            <a:ext cx="2286000" cy="0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315200" y="5870448"/>
            <a:ext cx="0" cy="0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7315200" y="5870448"/>
            <a:ext cx="2286000" cy="0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309360" y="5870448"/>
            <a:ext cx="2011680" cy="50292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Return Tool Result
to LLM Agent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315200" y="6373368"/>
            <a:ext cx="0" cy="210312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492240" y="6583680"/>
            <a:ext cx="1645920" cy="38404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1B2A"/>
                </a:solidFill>
              </a:rPr>
              <a:t>Final Response
Streamed to User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67512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B82"/>
                </a:solidFill>
              </a:rPr>
              <a:t>Registry: UUID-keyed server store  ·  LLM sees: server_name/tool_name  ·  Tools rebuild live on connect/disconnect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5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C8D"/>
                </a:solidFill>
              </a:rPr>
              <a:t>WORKFLOW  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Authentication &amp; Request Security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JWT token lifecycle, rate limiting, and request validation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5C8D"/>
                </a:solidFill>
              </a:rPr>
              <a:t>TOKEN LIFECYCLE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48840"/>
            <a:ext cx="1645920" cy="438912"/>
          </a:xfrm>
          <a:prstGeom prst="ellipse">
            <a:avLst/>
          </a:prstGeom>
          <a:solidFill>
            <a:srgbClr val="FF5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1B2A"/>
                </a:solidFill>
              </a:rPr>
              <a:t>User: POST
/auth/login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587752"/>
            <a:ext cx="0" cy="246888"/>
          </a:xfrm>
          <a:prstGeom prst="line">
            <a:avLst/>
          </a:prstGeom>
          <a:ln w="19050">
            <a:solidFill>
              <a:srgbClr val="FF5C8D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60120" y="2834640"/>
            <a:ext cx="1920240" cy="502920"/>
          </a:xfrm>
          <a:prstGeom prst="roundRect">
            <a:avLst/>
          </a:prstGeom>
          <a:solidFill>
            <a:srgbClr val="2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5C8D"/>
                </a:solidFill>
              </a:rPr>
              <a:t>Verify credentials
bcrypt hash 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337560"/>
            <a:ext cx="0" cy="246888"/>
          </a:xfrm>
          <a:prstGeom prst="line">
            <a:avLst/>
          </a:prstGeom>
          <a:ln w="19050">
            <a:solidFill>
              <a:srgbClr val="FF5C8D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097280" y="3584448"/>
            <a:ext cx="1645920" cy="566928"/>
          </a:xfrm>
          <a:prstGeom prst="diamond">
            <a:avLst/>
          </a:prstGeom>
          <a:solidFill>
            <a:srgbClr val="2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Credentials
Valid?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8561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6B35"/>
                </a:solidFill>
              </a:rPr>
              <a:t>NO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11480" y="3867912"/>
            <a:ext cx="685800" cy="0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-640079" y="3703320"/>
            <a:ext cx="1005840" cy="38404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D1B2A"/>
                </a:solidFill>
              </a:rPr>
              <a:t>401
Unauthorized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78561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DE80"/>
                </a:solidFill>
              </a:rPr>
              <a:t>YES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4151376"/>
            <a:ext cx="0" cy="256032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0120" y="4407408"/>
            <a:ext cx="1920240" cy="548640"/>
          </a:xfrm>
          <a:prstGeom prst="roundRect">
            <a:avLst/>
          </a:prstGeom>
          <a:solidFill>
            <a:srgbClr val="0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ADE80"/>
                </a:solidFill>
              </a:rPr>
              <a:t>Issue:
• Access Token (30 min)
• Refresh Token (7 days)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20240" y="4956048"/>
            <a:ext cx="0" cy="256032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0120" y="5212080"/>
            <a:ext cx="1920240" cy="50292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Client stores tokens
Locally (localStorage)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20240" y="5715000"/>
            <a:ext cx="0" cy="246888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iamond 21"/>
          <p:cNvSpPr/>
          <p:nvPr/>
        </p:nvSpPr>
        <p:spPr>
          <a:xfrm>
            <a:off x="1097280" y="5961888"/>
            <a:ext cx="1645920" cy="566928"/>
          </a:xfrm>
          <a:prstGeom prst="diamond">
            <a:avLst/>
          </a:prstGeom>
          <a:solidFill>
            <a:srgbClr val="28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Access Token
Expired?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61630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D600"/>
                </a:solidFill>
              </a:rPr>
              <a:t>YES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43200" y="6245352"/>
            <a:ext cx="640080" cy="0"/>
          </a:xfrm>
          <a:prstGeom prst="line">
            <a:avLst/>
          </a:prstGeom>
          <a:ln w="19050">
            <a:solidFill>
              <a:srgbClr val="FFD6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383280" y="6035040"/>
            <a:ext cx="1645920" cy="457200"/>
          </a:xfrm>
          <a:prstGeom prst="roundRect">
            <a:avLst/>
          </a:prstGeom>
          <a:solidFill>
            <a:srgbClr val="282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D600"/>
                </a:solidFill>
              </a:rPr>
              <a:t>POST /auth/refresh
→ new Access Token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61630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DE80"/>
                </a:solidFill>
              </a:rPr>
              <a:t>NO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57200" y="6245352"/>
            <a:ext cx="640080" cy="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-685800" y="6080760"/>
            <a:ext cx="1097280" cy="38404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D1B2A"/>
                </a:solidFill>
              </a:rPr>
              <a:t>Request
Proceeds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7639" y="1737360"/>
            <a:ext cx="36576" cy="5029200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175564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E0"/>
                </a:solidFill>
              </a:rPr>
              <a:t>REQUEST PIPELINE  (every API call)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148840"/>
            <a:ext cx="5577840" cy="493776"/>
          </a:xfrm>
          <a:prstGeom prst="round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1B2A"/>
                </a:solidFill>
              </a:rPr>
              <a:t>Incoming HTTP / WS Request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06840" y="2642616"/>
            <a:ext cx="0" cy="9144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17920" y="2734056"/>
            <a:ext cx="5577840" cy="493776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Security Headers Applied
(CSP · HSTS · X-Frame)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06840" y="3227832"/>
            <a:ext cx="0" cy="91440"/>
          </a:xfrm>
          <a:prstGeom prst="line">
            <a:avLst/>
          </a:prstGeom>
          <a:ln w="19050">
            <a:solidFill>
              <a:srgbClr val="298F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217920" y="3319272"/>
            <a:ext cx="5577840" cy="493776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CORS Origin Check
(whitelist validation)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06840" y="3813048"/>
            <a:ext cx="0" cy="91440"/>
          </a:xfrm>
          <a:prstGeom prst="line">
            <a:avLst/>
          </a:prstGeom>
          <a:ln w="19050">
            <a:solidFill>
              <a:srgbClr val="00BFA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217920" y="3904488"/>
            <a:ext cx="5577840" cy="49377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Rate Limiter (slowapi)
60 req/min · 10 uploads/hr · 30 WS/min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006840" y="4398264"/>
            <a:ext cx="0" cy="91440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217920" y="4489704"/>
            <a:ext cx="5577840" cy="493776"/>
          </a:xfrm>
          <a:prstGeom prst="round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JWT Verification
(when auth.enabled=true)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06840" y="4983480"/>
            <a:ext cx="0" cy="91440"/>
          </a:xfrm>
          <a:prstGeom prst="line">
            <a:avLst/>
          </a:prstGeom>
          <a:ln w="19050">
            <a:solidFill>
              <a:srgbClr val="B38A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217920" y="5074920"/>
            <a:ext cx="5577840" cy="493776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1B2A"/>
                </a:solidFill>
              </a:rPr>
              <a:t>Request Size Check
(max 30 MB · 10 000 char WS)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06840" y="5568696"/>
            <a:ext cx="0" cy="9144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217920" y="5660136"/>
            <a:ext cx="5577840" cy="493776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1B2A"/>
                </a:solidFill>
              </a:rPr>
              <a:t>Content Validation
File type · Schema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006840" y="6153912"/>
            <a:ext cx="0" cy="91439"/>
          </a:xfrm>
          <a:prstGeom prst="line">
            <a:avLst/>
          </a:prstGeom>
          <a:ln w="19050">
            <a:solidFill>
              <a:srgbClr val="FFD6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217920" y="6245351"/>
            <a:ext cx="5577840" cy="493776"/>
          </a:xfrm>
          <a:prstGeom prst="roundRect">
            <a:avLst/>
          </a:prstGeom>
          <a:solidFill>
            <a:srgbClr val="FF5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Audit Log Written
logs/audit.log  (redacted)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06840" y="6830567"/>
            <a:ext cx="0" cy="18288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7635240" y="7013447"/>
            <a:ext cx="274320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0D1B2A"/>
                </a:solidFill>
              </a:rPr>
              <a:t>Handler Executes  →  Response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WORKFLOW  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Memory, Learning &amp; Proactive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How RAGenie remembers, learns from feedback, and proactively assists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600"/>
                </a:solidFill>
              </a:rPr>
              <a:t>MEMORY WRITE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48840"/>
            <a:ext cx="2560320" cy="530352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1B2A"/>
                </a:solidFill>
              </a:rPr>
              <a:t>Conversation
Turn Completes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79192"/>
            <a:ext cx="0" cy="128016"/>
          </a:xfrm>
          <a:prstGeom prst="line">
            <a:avLst/>
          </a:prstGeom>
          <a:ln w="19050">
            <a:solidFill>
              <a:srgbClr val="FFD6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2807208"/>
            <a:ext cx="2560320" cy="530352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Extract Important
Context Phrases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54480" y="3337560"/>
            <a:ext cx="0" cy="128016"/>
          </a:xfrm>
          <a:prstGeom prst="line">
            <a:avLst/>
          </a:prstGeom>
          <a:ln w="190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3465576"/>
            <a:ext cx="2560320" cy="530352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Embed in
Memory Store (SQLite)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995928"/>
            <a:ext cx="0" cy="128016"/>
          </a:xfrm>
          <a:prstGeom prst="line">
            <a:avLst/>
          </a:prstGeom>
          <a:ln w="19050">
            <a:solidFill>
              <a:srgbClr val="00BFA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" y="4123944"/>
            <a:ext cx="2560320" cy="53035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Prune to
max_context_items=8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755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E0"/>
                </a:solidFill>
              </a:rPr>
              <a:t>MEMORY 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2148840"/>
            <a:ext cx="2560320" cy="530352"/>
          </a:xfrm>
          <a:prstGeom prst="round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 User
Message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89120" y="2679192"/>
            <a:ext cx="0" cy="128016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108960" y="2807208"/>
            <a:ext cx="2560320" cy="530352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Query Memory
Store (relevance)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89120" y="3337560"/>
            <a:ext cx="0" cy="128016"/>
          </a:xfrm>
          <a:prstGeom prst="line">
            <a:avLst/>
          </a:prstGeom>
          <a:ln w="19050">
            <a:solidFill>
              <a:srgbClr val="298F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108960" y="3465576"/>
            <a:ext cx="2560320" cy="530352"/>
          </a:xfrm>
          <a:prstGeom prst="roundRect">
            <a:avLst/>
          </a:prstGeom>
          <a:solidFill>
            <a:srgbClr val="B3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Inject Top-8
Memory Items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89120" y="3995928"/>
            <a:ext cx="0" cy="128016"/>
          </a:xfrm>
          <a:prstGeom prst="line">
            <a:avLst/>
          </a:prstGeom>
          <a:ln w="19050">
            <a:solidFill>
              <a:srgbClr val="B38A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108960" y="4123944"/>
            <a:ext cx="2560320" cy="530352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Build Prompt
with Memory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55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DE80"/>
                </a:solidFill>
              </a:rPr>
              <a:t>LEARNING FEEDBACK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0" y="2148840"/>
            <a:ext cx="2560320" cy="43891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1B2A"/>
                </a:solidFill>
              </a:rPr>
              <a:t>AI Response
Displayed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23760" y="2587752"/>
            <a:ext cx="0" cy="246888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6309360" y="2834640"/>
            <a:ext cx="1828800" cy="566928"/>
          </a:xfrm>
          <a:prstGeom prst="diamond">
            <a:avLst/>
          </a:prstGeom>
          <a:solidFill>
            <a:srgbClr val="0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User Gives
Feedback?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30358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BEC5"/>
                </a:solidFill>
              </a:rPr>
              <a:t>NO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5577840" y="3118104"/>
            <a:ext cx="731520" cy="0"/>
          </a:xfrm>
          <a:prstGeom prst="line">
            <a:avLst/>
          </a:prstGeom>
          <a:ln w="19050">
            <a:solidFill>
              <a:srgbClr val="B0BEC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663440" y="2944368"/>
            <a:ext cx="868680" cy="384048"/>
          </a:xfrm>
          <a:prstGeom prst="ellipse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No
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0358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DE80"/>
                </a:solidFill>
              </a:rPr>
              <a:t>YES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38160" y="3118104"/>
            <a:ext cx="640080" cy="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iamond 31"/>
          <p:cNvSpPr/>
          <p:nvPr/>
        </p:nvSpPr>
        <p:spPr>
          <a:xfrm>
            <a:off x="8778240" y="2944368"/>
            <a:ext cx="1691640" cy="530352"/>
          </a:xfrm>
          <a:prstGeom prst="diamond">
            <a:avLst/>
          </a:prstGeom>
          <a:solidFill>
            <a:srgbClr val="0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👍 or
👎?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3383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DE80"/>
                </a:solidFill>
              </a:rPr>
              <a:t>👍 +0.10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8046720" y="3474720"/>
            <a:ext cx="594360" cy="155448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58000" y="3630168"/>
            <a:ext cx="2560320" cy="457200"/>
          </a:xfrm>
          <a:prstGeom prst="roundRect">
            <a:avLst/>
          </a:prstGeom>
          <a:solidFill>
            <a:srgbClr val="0A2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ADE80"/>
                </a:solidFill>
              </a:rPr>
              <a:t>Update Retrieval
Score (SQLite)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3383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5C8D"/>
                </a:solidFill>
              </a:rPr>
              <a:t>👎 -0.08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9601200" y="3474720"/>
            <a:ext cx="960120" cy="155448"/>
          </a:xfrm>
          <a:prstGeom prst="line">
            <a:avLst/>
          </a:prstGeom>
          <a:ln w="19050">
            <a:solidFill>
              <a:srgbClr val="FF5C8D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223760" y="4087368"/>
            <a:ext cx="0" cy="22860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943600" y="4315968"/>
            <a:ext cx="2560320" cy="502920"/>
          </a:xfrm>
          <a:prstGeom prst="round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Scores influence
future BM25 ranking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029200"/>
            <a:ext cx="1164031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0840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FA5"/>
                </a:solidFill>
              </a:rPr>
              <a:t>PROACTIVE CAPABILITIES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458968"/>
            <a:ext cx="2103120" cy="566928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D1B2A"/>
                </a:solidFill>
              </a:rPr>
              <a:t>Background
Scheduler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377439" y="5742432"/>
            <a:ext cx="137161" cy="0"/>
          </a:xfrm>
          <a:prstGeom prst="line">
            <a:avLst/>
          </a:prstGeom>
          <a:ln w="19050">
            <a:solidFill>
              <a:srgbClr val="00BFA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2514600" y="5458968"/>
            <a:ext cx="2103120" cy="566928"/>
          </a:xfrm>
          <a:prstGeom prst="roundRect">
            <a:avLst/>
          </a:prstGeom>
          <a:solidFill>
            <a:srgbClr val="2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Check Time
vs quiet hours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617720" y="5742432"/>
            <a:ext cx="137160" cy="0"/>
          </a:xfrm>
          <a:prstGeom prst="line">
            <a:avLst/>
          </a:prstGeom>
          <a:ln w="19050">
            <a:solidFill>
              <a:srgbClr val="298F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754880" y="5458968"/>
            <a:ext cx="2103120" cy="566928"/>
          </a:xfrm>
          <a:prstGeom prst="round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Fetch News
+ Memory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858000" y="5742432"/>
            <a:ext cx="137160" cy="0"/>
          </a:xfrm>
          <a:prstGeom prst="line">
            <a:avLst/>
          </a:prstGeom>
          <a:ln w="19050">
            <a:solidFill>
              <a:srgbClr val="00C8E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995160" y="5458968"/>
            <a:ext cx="2103120" cy="56692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Generate
Daily Briefing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098280" y="5742432"/>
            <a:ext cx="137160" cy="0"/>
          </a:xfrm>
          <a:prstGeom prst="line">
            <a:avLst/>
          </a:prstGeom>
          <a:ln w="19050">
            <a:solidFill>
              <a:srgbClr val="4ADE8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235440" y="5458968"/>
            <a:ext cx="2103120" cy="566928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D1B2A"/>
                </a:solidFill>
              </a:rPr>
              <a:t>Push Nudge
to User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61447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6B82"/>
                </a:solidFill>
              </a:rPr>
              <a:t>Configurable:  briefing_hour=9  ·  cycle_interval=30 min  ·  quiet_hours 22:00–08:00  ·  enabled: true/false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B82"/>
                </a:solidFill>
              </a:rPr>
              <a:t>News aggregator feeds the proactive briefing — articles are optionally ingested into the RAG index too.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914400"/>
            <a:ext cx="4114800" cy="4114800"/>
          </a:xfrm>
          <a:prstGeom prst="ellipse">
            <a:avLst/>
          </a:prstGeom>
          <a:solidFill>
            <a:srgbClr val="0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2286000"/>
            <a:ext cx="2286000" cy="2286000"/>
          </a:xfrm>
          <a:prstGeom prst="ellipse">
            <a:avLst/>
          </a:prstGeom>
          <a:solidFill>
            <a:srgbClr val="0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C8E0"/>
                </a:solidFill>
              </a:rPr>
              <a:t>RAGenie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The AI assistant that stays on YOUR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100% Private  ·  Fully Open Source  ·  Zero Cloud  ·  MIT License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2651760" cy="86868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0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6634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E0"/>
                </a:solidFill>
              </a:rPr>
              <a:t>🔗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0292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https://github.com/ratulsarkar-iam/RAGenie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4572000"/>
            <a:ext cx="2651760" cy="86868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46634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FFF"/>
                </a:solidFill>
              </a:rPr>
              <a:t>📄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50292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README.md included in repository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572000"/>
            <a:ext cx="2651760" cy="86868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6634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⚡ Quick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0292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./start.sh  to launch everything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4572000"/>
            <a:ext cx="2651760" cy="868680"/>
          </a:xfrm>
          <a:prstGeom prst="roundRect">
            <a:avLst/>
          </a:prstGeom>
          <a:solidFill>
            <a:srgbClr val="1C34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46634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📧 License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50292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MIT — free for commercial &amp; personal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82"/>
                </a:solidFill>
              </a:rPr>
              <a:t>Built with ❤️  using FastAPI · LangChain · React · Ollama · MCP SDK 1.17.0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